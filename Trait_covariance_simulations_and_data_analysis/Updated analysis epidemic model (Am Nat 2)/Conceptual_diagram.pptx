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9728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7"/>
    <p:restoredTop sz="94707"/>
  </p:normalViewPr>
  <p:slideViewPr>
    <p:cSldViewPr snapToGrid="0">
      <p:cViewPr varScale="1">
        <p:scale>
          <a:sx n="111" d="100"/>
          <a:sy n="111" d="100"/>
        </p:scale>
        <p:origin x="46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795781"/>
            <a:ext cx="9326880" cy="382016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763261"/>
            <a:ext cx="8229600" cy="2649219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4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735583"/>
            <a:ext cx="9464040" cy="4564379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7343143"/>
            <a:ext cx="9464040" cy="2400299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6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921000"/>
            <a:ext cx="46634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921000"/>
            <a:ext cx="46634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5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84202"/>
            <a:ext cx="946404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689861"/>
            <a:ext cx="4642008" cy="131825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4008120"/>
            <a:ext cx="464200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689861"/>
            <a:ext cx="4664869" cy="131825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4008120"/>
            <a:ext cx="4664869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0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7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1520"/>
            <a:ext cx="3539014" cy="256032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579882"/>
            <a:ext cx="5554980" cy="779780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3291840"/>
            <a:ext cx="3539014" cy="6098541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1520"/>
            <a:ext cx="3539014" cy="256032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579882"/>
            <a:ext cx="5554980" cy="779780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3291840"/>
            <a:ext cx="3539014" cy="6098541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4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7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584200"/>
            <a:ext cx="236601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584200"/>
            <a:ext cx="696087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3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584202"/>
            <a:ext cx="946404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921000"/>
            <a:ext cx="946404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0170162"/>
            <a:ext cx="24688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D4D20-8140-B245-BC26-8A4CFF4ACF1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0170162"/>
            <a:ext cx="37033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0170162"/>
            <a:ext cx="24688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499A2-4C57-2C42-BA03-0511EB9F3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6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aph of a normal distribution&#10;&#10;Description automatically generated with medium confidence">
            <a:extLst>
              <a:ext uri="{FF2B5EF4-FFF2-40B4-BE49-F238E27FC236}">
                <a16:creationId xmlns:a16="http://schemas.microsoft.com/office/drawing/2014/main" id="{6F627BAD-56E0-584B-C16E-B4AAE15BE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600" y="0"/>
            <a:ext cx="5486400" cy="5486400"/>
          </a:xfrm>
          <a:prstGeom prst="rect">
            <a:avLst/>
          </a:prstGeom>
        </p:spPr>
      </p:pic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77F365B-A63B-7FDD-968D-BB603C8AB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30" y="1206179"/>
            <a:ext cx="4771862" cy="3458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45A416-4E5B-EC4D-680C-7D4F27BF4EE9}"/>
              </a:ext>
            </a:extLst>
          </p:cNvPr>
          <p:cNvSpPr txBox="1"/>
          <p:nvPr/>
        </p:nvSpPr>
        <p:spPr>
          <a:xfrm>
            <a:off x="277230" y="164788"/>
            <a:ext cx="4375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Choose simulation parameters and run the stochastic epidemic model.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F01975-E14A-7ACD-F92A-40AA2C87177F}"/>
              </a:ext>
            </a:extLst>
          </p:cNvPr>
          <p:cNvSpPr txBox="1"/>
          <p:nvPr/>
        </p:nvSpPr>
        <p:spPr>
          <a:xfrm>
            <a:off x="5486400" y="164788"/>
            <a:ext cx="520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Plot the observed epidemic curve and calculate the peak prevalence and epidemic duration.</a:t>
            </a:r>
          </a:p>
        </p:txBody>
      </p:sp>
      <p:pic>
        <p:nvPicPr>
          <p:cNvPr id="23" name="Picture 22" descr="A graph of a number of cases&#10;&#10;Description automatically generated">
            <a:extLst>
              <a:ext uri="{FF2B5EF4-FFF2-40B4-BE49-F238E27FC236}">
                <a16:creationId xmlns:a16="http://schemas.microsoft.com/office/drawing/2014/main" id="{D3D4918E-8573-F1C4-94FA-81AC2461B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600" y="5486400"/>
            <a:ext cx="5486400" cy="5486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CD6487-BE8B-E6CB-15DF-BA782BF29E0E}"/>
              </a:ext>
            </a:extLst>
          </p:cNvPr>
          <p:cNvSpPr txBox="1"/>
          <p:nvPr/>
        </p:nvSpPr>
        <p:spPr>
          <a:xfrm>
            <a:off x="5486400" y="5267276"/>
            <a:ext cx="5011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Rank each infection by infectiousness and calculate the proportion of transmission from the most infectious 20% of cases.</a:t>
            </a:r>
          </a:p>
        </p:txBody>
      </p:sp>
      <p:pic>
        <p:nvPicPr>
          <p:cNvPr id="21" name="Picture 20" descr="A graph of a number of cases&#10;&#10;Description automatically generated">
            <a:extLst>
              <a:ext uri="{FF2B5EF4-FFF2-40B4-BE49-F238E27FC236}">
                <a16:creationId xmlns:a16="http://schemas.microsoft.com/office/drawing/2014/main" id="{FC731BB1-85E6-D5FE-E0A8-B5F038B4C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83662"/>
            <a:ext cx="5486400" cy="5486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EC9C7E-0164-7E89-7235-EC76D09AC932}"/>
              </a:ext>
            </a:extLst>
          </p:cNvPr>
          <p:cNvSpPr txBox="1"/>
          <p:nvPr/>
        </p:nvSpPr>
        <p:spPr>
          <a:xfrm>
            <a:off x="277229" y="5267276"/>
            <a:ext cx="4771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Fit a negative binomial distribution to the observed number of cases caused by each infection and estimate the dispersion.</a:t>
            </a:r>
          </a:p>
        </p:txBody>
      </p:sp>
    </p:spTree>
    <p:extLst>
      <p:ext uri="{BB962C8B-B14F-4D97-AF65-F5344CB8AC3E}">
        <p14:creationId xmlns:p14="http://schemas.microsoft.com/office/powerpoint/2010/main" val="4210650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72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 Cressler</dc:creator>
  <cp:lastModifiedBy>Clay Cressler</cp:lastModifiedBy>
  <cp:revision>2</cp:revision>
  <dcterms:created xsi:type="dcterms:W3CDTF">2026-08-05T22:03:17Z</dcterms:created>
  <dcterms:modified xsi:type="dcterms:W3CDTF">2026-08-05T22:36:13Z</dcterms:modified>
</cp:coreProperties>
</file>